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High-ESG Index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Calm</c:v>
                  </c:pt>
                  <c:pt idx="1">
                    <c:v>Choppy</c:v>
                  </c:pt>
                  <c:pt idx="2">
                    <c:v>Stress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15.7</c:v>
                </c:pt>
                <c:pt idx="2">
                  <c:v>26.4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SUSA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Calm</c:v>
                  </c:pt>
                  <c:pt idx="1">
                    <c:v>Choppy</c:v>
                  </c:pt>
                  <c:pt idx="2">
                    <c:v>Stress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12.1</c:v>
                </c:pt>
                <c:pt idx="1">
                  <c:v>15.6</c:v>
                </c:pt>
                <c:pt idx="2">
                  <c:v>27.3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DSI</c:v>
                </c:pt>
              </c:strCache>
            </c:strRef>
          </c:tx>
          <c:spPr>
            <a:solidFill>
              <a:srgbClr val="E9B44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Calm</c:v>
                  </c:pt>
                  <c:pt idx="1">
                    <c:v>Choppy</c:v>
                  </c:pt>
                  <c:pt idx="2">
                    <c:v>Stress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</c:v>
                </c:pt>
                <c:pt idx="1">
                  <c:v>14.5</c:v>
                </c:pt>
                <c:pt idx="2">
                  <c:v>25.4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F2A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E8EE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A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A72"/>
                    </a:solidFill>
                    <a:latin typeface="Arial"/>
                  </a:rPr>
                  <a:t>Annualized volatility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3-state Gaussian HMM adapted from a production SPY regime model for the ESG universe. The output feeds regime-conditional reward weights in the ESG-Adaptive RL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RL project's core thesis: reward weights over return and E/S/G should be regime-conditional. This model supplies the regime.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feature set changes. The realized-vol term structure is the key substitute for the SPX-specific VIX term structure, making the model self-contained on any ESG price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high-ESG index makes the regime model genuinely ESG-driven rather than a generic ETF proxy. SUSA and DSI confirm robustness.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guard against look-ahead: lagged standardization, forward-only posteriors, and two independent OOS protocols.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scientific result: the regime label predicts next-day volatility out of sample, ~2x from calm to stress, on every universe.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overlay is a risk-management demonstration: ~half the volatility and drawdown OOS everywhere, and on DSI it also beats buy &amp; hold on Sharpe and Calmar.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confirmation: the shaded regimes align with the known stress periods, and the overlay equity curve avoids the deep drawdowns.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Intellectual honesty: the overlay trades return for risk in bull markets, and the early walk-forward is conservative. Both are expected and disclosed.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regime detector is validated and integrated. The immediate next step is wiring its labels into the RL reward to realize the project's regime-conditional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0281F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5120640"/>
            <a:ext cx="292608" cy="1005840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10433304" y="4297680"/>
            <a:ext cx="292608" cy="1828800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10853928" y="4754880"/>
            <a:ext cx="292608" cy="1371600"/>
          </a:xfrm>
          <a:prstGeom prst="roundRect">
            <a:avLst>
              <a:gd name="adj" fmla="val 18750"/>
            </a:avLst>
          </a:prstGeom>
          <a:solidFill>
            <a:srgbClr val="E9B44C"/>
          </a:solidFill>
          <a:ln/>
        </p:spPr>
      </p:sp>
      <p:sp>
        <p:nvSpPr>
          <p:cNvPr id="6" name="Shape 4"/>
          <p:cNvSpPr/>
          <p:nvPr/>
        </p:nvSpPr>
        <p:spPr>
          <a:xfrm>
            <a:off x="11274552" y="5303520"/>
            <a:ext cx="292608" cy="822960"/>
          </a:xfrm>
          <a:prstGeom prst="roundRect">
            <a:avLst>
              <a:gd name="adj" fmla="val 18750"/>
            </a:avLst>
          </a:prstGeom>
          <a:solidFill>
            <a:srgbClr val="3E7B4F"/>
          </a:solidFill>
          <a:ln/>
        </p:spPr>
      </p:sp>
      <p:sp>
        <p:nvSpPr>
          <p:cNvPr id="7" name="Shape 5"/>
          <p:cNvSpPr/>
          <p:nvPr/>
        </p:nvSpPr>
        <p:spPr>
          <a:xfrm>
            <a:off x="11695176" y="4572000"/>
            <a:ext cx="292608" cy="1554480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 · FINANCE RESEARCH · COMPANION TO ESG_ADAPTIVE_RL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ESG Market-Regime Detection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3-State Hidden Markov Model for Regime-Conditional Sustainable Investing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when the ESG universe is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· Choppy · Stressed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signal a reinforcement-learning allocator uses to switch its E/S/G-vs-return reward weights by regime.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a production SPY regime model → self-contained on ESG price history (no options data).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regime detection for ESG RL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trade-off between return and sustainability is not constant — it depends on the market state. A regime label lets the allocator hold a different E/S/G tilt in calm markets than in stressed ones.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063240"/>
            <a:ext cx="502920" cy="502920"/>
          </a:xfrm>
          <a:prstGeom prst="ellipse">
            <a:avLst/>
          </a:prstGeom>
          <a:solidFill>
            <a:srgbClr val="25A2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1783080" y="29352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calm markets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0" y="289864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ESG tilts and growth — volatility is low, drawdown risk is contained.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02336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429768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1783080" y="41696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choppy markets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413308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exposure; the vol-of-vol rises and factor leadership rotates.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55321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783080" y="54041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stressed markets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0" y="536752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hard — stress days carry ~2× the volatility with poor risk-adjusted return.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HMM engine, ESG-specific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14342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(unchanged)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Gaussian-emission HMM, diagonal covariance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32644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pinned by realized-vol → Calm / Choppy / Stress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1560" y="39227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(forward-only) posteriors — point-in-time, no look-ahead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458114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Anti-whipsaw hysteresis on regime switches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51560" y="523951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stress guardrail (below 200d trend + vol backwardation)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ESG adaptation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2578608" cy="822960"/>
          </a:xfrm>
          <a:prstGeom prst="roundRect">
            <a:avLst>
              <a:gd name="adj" fmla="val 6667"/>
            </a:avLst>
          </a:prstGeom>
          <a:solidFill>
            <a:srgbClr val="6B7A72"/>
          </a:solidFill>
          <a:ln/>
        </p:spPr>
      </p:sp>
      <p:sp>
        <p:nvSpPr>
          <p:cNvPr id="13" name="Shape 11"/>
          <p:cNvSpPr/>
          <p:nvPr/>
        </p:nvSpPr>
        <p:spPr>
          <a:xfrm>
            <a:off x="8641080" y="228600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28600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model used…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22860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model uses…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218688"/>
            <a:ext cx="2578608" cy="82296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/>
        </p:spPr>
      </p:sp>
      <p:sp>
        <p:nvSpPr>
          <p:cNvPr id="17" name="Shape 15"/>
          <p:cNvSpPr/>
          <p:nvPr/>
        </p:nvSpPr>
        <p:spPr>
          <a:xfrm>
            <a:off x="8641080" y="3218688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E7F0E9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21868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/ VIX9d implied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structure (SPX-only)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0" y="321868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Realized-vol term structure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log(rv₁₀ / rv₆₀) — self-contained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4151376"/>
            <a:ext cx="2578608" cy="82296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1080" y="4151376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E7F0E9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4151376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risk premium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(needs implied vol)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0" y="4151376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no options data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any ESG name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5084064"/>
            <a:ext cx="2578608" cy="82296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/>
        </p:spPr>
      </p:sp>
      <p:sp>
        <p:nvSpPr>
          <p:cNvPr id="25" name="Shape 23"/>
          <p:cNvSpPr/>
          <p:nvPr/>
        </p:nvSpPr>
        <p:spPr>
          <a:xfrm>
            <a:off x="8641080" y="5084064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E7F0E9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508406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· realized vol ·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· Parkinson vol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0" y="508406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+ 20-day momentum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UNIVERSES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ESG universes — one built from real ESG scores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3429000" cy="128016"/>
          </a:xfrm>
          <a:prstGeom prst="roundRect">
            <a:avLst/>
          </a:prstGeom>
          <a:solidFill>
            <a:srgbClr val="E9B44C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High-ESG Index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33272" y="2670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8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GENUINELY ESG-DRIVEN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33272" y="3063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 basket of the top-40 US large-caps by real Refinitiv ESG score, from the repo's own Dataset/.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33272" y="5120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full history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828800"/>
            <a:ext cx="3429000" cy="128016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SUSA ETF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36592" y="2670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ROBUSTNESS CHECK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36592" y="3063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MSCI USA ESG Select — a broad ESG-tilted US equity benchmark.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5,085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36592" y="5120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2006–2026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83880" y="182880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1828800"/>
            <a:ext cx="3429000" cy="128016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8439912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DSI ETF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439912" y="2670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ROBUSTNESS CHECK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39912" y="3063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MSCI KLD 400 Social — a values-screened US equity index.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39912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4,630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439912" y="5120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39912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2008–2026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Look-ahead-free by construction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0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z-score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(t-1 window)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24328" y="21031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90088" y="18288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3081528" y="190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81528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3-state HMM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restarts)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37176" y="21031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02936" y="18288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294376" y="190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94376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Vol-order &amp;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0024" y="21031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15784" y="18288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507224" y="190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07224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decode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hysteresis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62872" y="21031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28632" y="18288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9720072" y="190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20072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guardrail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out-of-sample validation protocols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374904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1B4D3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7280" y="4069080"/>
            <a:ext cx="457200" cy="45720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Chronological train / test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143000" y="47548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HMM once on dates before 2021-01-01, freeze it, then decode the later test period with filtered posteriors. No test bar is ever seen in training.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72200" y="374904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26654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4069080"/>
            <a:ext cx="457200" cy="45720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Walk-forward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537960" y="47548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monthly on an expanding window; every single day is labeled by a model trained only on its own past. The honest rolling protocol.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THE LABELS MEAN SOMETHING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Stress days carry ~2× the volatility of calm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next-day realized volatility, grouped by the frozen model's regime label. The separation holds across all three universes — evidence the regimes are economically real, not curve-fit.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2743200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27432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4342B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8803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2.2×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092440" y="3749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stress-vs-calm volatility ratio (avg, OOS)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09560" y="46177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9560" y="4754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11–20%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092440" y="5532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days flagged Stress under the calibrated train/test split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— OUT-OF-SAMPLE BACKTEST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regime overlay roughly halves risk out-of-sample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= 100% / 60% / 0% invested in Calm / Choppy / Stress (signal lagged one day, costs charged). Test period 2021–2026, frozen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1170432" cy="502920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24028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947672" y="2240280"/>
            <a:ext cx="1298448" cy="502920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22402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914400" cy="502920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224028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60520" y="2240280"/>
            <a:ext cx="914400" cy="502920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8808" y="224028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4920" y="2240280"/>
            <a:ext cx="914400" cy="502920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3208" y="224028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2240280"/>
            <a:ext cx="1143000" cy="502920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224028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2240280"/>
            <a:ext cx="822960" cy="502920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2240280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2743200"/>
            <a:ext cx="1170432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274320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High-ESG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947672" y="2743200"/>
            <a:ext cx="1298448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2743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46120" y="2743200"/>
            <a:ext cx="9144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27432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60520" y="2743200"/>
            <a:ext cx="9144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78808" y="27432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74920" y="2743200"/>
            <a:ext cx="9144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27432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89320" y="2743200"/>
            <a:ext cx="11430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7608" y="274320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−22.2%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32320" y="2743200"/>
            <a:ext cx="82296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2743200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7240" y="3246120"/>
            <a:ext cx="117043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324612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High-ESG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947672" y="3246120"/>
            <a:ext cx="129844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32461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246120" y="324612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324612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160520" y="324612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78808" y="324612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074920" y="324612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93208" y="324612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989320" y="324612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07608" y="324612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−14.4%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132320" y="324612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0608" y="3246120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77240" y="3749040"/>
            <a:ext cx="1170432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" y="374904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1947672" y="3749040"/>
            <a:ext cx="1298448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65960" y="37490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3246120" y="3749040"/>
            <a:ext cx="9144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64408" y="374904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160520" y="3749040"/>
            <a:ext cx="9144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78808" y="374904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074920" y="3749040"/>
            <a:ext cx="9144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93208" y="374904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5989320" y="3749040"/>
            <a:ext cx="11430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07608" y="374904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−28.2%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7132320" y="3749040"/>
            <a:ext cx="82296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50608" y="3749040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77240" y="4251960"/>
            <a:ext cx="117043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6968" y="425196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1947672" y="4251960"/>
            <a:ext cx="129844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65960" y="42519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3246120" y="425196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64408" y="42519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4160520" y="425196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78808" y="42519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074920" y="425196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93208" y="425196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5989320" y="425196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07608" y="425196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−17.4%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7132320" y="425196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50608" y="4251960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777240" y="4754880"/>
            <a:ext cx="1170432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86968" y="475488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1947672" y="4754880"/>
            <a:ext cx="1298448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65960" y="47548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3246120" y="4754880"/>
            <a:ext cx="9144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64408" y="475488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4160520" y="4754880"/>
            <a:ext cx="9144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78808" y="475488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17.7%</a:t>
            </a:r>
            <a:endParaRPr lang="en-US" sz="1250" dirty="0"/>
          </a:p>
        </p:txBody>
      </p:sp>
      <p:sp>
        <p:nvSpPr>
          <p:cNvPr id="83" name="Shape 81"/>
          <p:cNvSpPr/>
          <p:nvPr/>
        </p:nvSpPr>
        <p:spPr>
          <a:xfrm>
            <a:off x="5074920" y="4754880"/>
            <a:ext cx="9144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93208" y="475488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250" dirty="0"/>
          </a:p>
        </p:txBody>
      </p:sp>
      <p:sp>
        <p:nvSpPr>
          <p:cNvPr id="85" name="Shape 83"/>
          <p:cNvSpPr/>
          <p:nvPr/>
        </p:nvSpPr>
        <p:spPr>
          <a:xfrm>
            <a:off x="5989320" y="4754880"/>
            <a:ext cx="114300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07608" y="475488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−28.4%</a:t>
            </a:r>
            <a:endParaRPr lang="en-US" sz="1250" dirty="0"/>
          </a:p>
        </p:txBody>
      </p:sp>
      <p:sp>
        <p:nvSpPr>
          <p:cNvPr id="87" name="Shape 85"/>
          <p:cNvSpPr/>
          <p:nvPr/>
        </p:nvSpPr>
        <p:spPr>
          <a:xfrm>
            <a:off x="7132320" y="4754880"/>
            <a:ext cx="822960" cy="502920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50608" y="4754880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250" dirty="0"/>
          </a:p>
        </p:txBody>
      </p:sp>
      <p:sp>
        <p:nvSpPr>
          <p:cNvPr id="89" name="Shape 87"/>
          <p:cNvSpPr/>
          <p:nvPr/>
        </p:nvSpPr>
        <p:spPr>
          <a:xfrm>
            <a:off x="777240" y="5257800"/>
            <a:ext cx="117043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6968" y="525780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</a:t>
            </a:r>
            <a:endParaRPr lang="en-US" sz="1250" dirty="0"/>
          </a:p>
        </p:txBody>
      </p:sp>
      <p:sp>
        <p:nvSpPr>
          <p:cNvPr id="91" name="Shape 89"/>
          <p:cNvSpPr/>
          <p:nvPr/>
        </p:nvSpPr>
        <p:spPr>
          <a:xfrm>
            <a:off x="1947672" y="5257800"/>
            <a:ext cx="129844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65960" y="52578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250" dirty="0"/>
          </a:p>
        </p:txBody>
      </p:sp>
      <p:sp>
        <p:nvSpPr>
          <p:cNvPr id="93" name="Shape 91"/>
          <p:cNvSpPr/>
          <p:nvPr/>
        </p:nvSpPr>
        <p:spPr>
          <a:xfrm>
            <a:off x="3246120" y="525780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64408" y="52578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1250" dirty="0"/>
          </a:p>
        </p:txBody>
      </p:sp>
      <p:sp>
        <p:nvSpPr>
          <p:cNvPr id="95" name="Shape 93"/>
          <p:cNvSpPr/>
          <p:nvPr/>
        </p:nvSpPr>
        <p:spPr>
          <a:xfrm>
            <a:off x="4160520" y="525780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78808" y="52578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1250" dirty="0"/>
          </a:p>
        </p:txBody>
      </p:sp>
      <p:sp>
        <p:nvSpPr>
          <p:cNvPr id="97" name="Shape 95"/>
          <p:cNvSpPr/>
          <p:nvPr/>
        </p:nvSpPr>
        <p:spPr>
          <a:xfrm>
            <a:off x="5074920" y="525780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093208" y="52578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8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50" dirty="0"/>
          </a:p>
        </p:txBody>
      </p:sp>
      <p:sp>
        <p:nvSpPr>
          <p:cNvPr id="99" name="Shape 97"/>
          <p:cNvSpPr/>
          <p:nvPr/>
        </p:nvSpPr>
        <p:spPr>
          <a:xfrm>
            <a:off x="5989320" y="5257800"/>
            <a:ext cx="1143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007608" y="525780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−7.7%</a:t>
            </a:r>
            <a:endParaRPr lang="en-US" sz="1250" dirty="0"/>
          </a:p>
        </p:txBody>
      </p:sp>
      <p:sp>
        <p:nvSpPr>
          <p:cNvPr id="101" name="Shape 99"/>
          <p:cNvSpPr/>
          <p:nvPr/>
        </p:nvSpPr>
        <p:spPr>
          <a:xfrm>
            <a:off x="7132320" y="5257800"/>
            <a:ext cx="822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150608" y="5257800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8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</a:t>
            </a:r>
            <a:endParaRPr lang="en-US" sz="1250" dirty="0"/>
          </a:p>
        </p:txBody>
      </p:sp>
      <p:sp>
        <p:nvSpPr>
          <p:cNvPr id="103" name="Shape 101"/>
          <p:cNvSpPr/>
          <p:nvPr/>
        </p:nvSpPr>
        <p:spPr>
          <a:xfrm>
            <a:off x="8275320" y="2331720"/>
            <a:ext cx="3154680" cy="1828800"/>
          </a:xfrm>
          <a:prstGeom prst="roundRect">
            <a:avLst>
              <a:gd name="adj" fmla="val 5000"/>
            </a:avLst>
          </a:prstGeom>
          <a:solidFill>
            <a:srgbClr val="14342B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overlay, out-of-sample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458200" y="28529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0.92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 vs  0.75 buy &amp; hold</a:t>
            </a:r>
            <a:endParaRPr lang="en-US" sz="3400" dirty="0"/>
          </a:p>
        </p:txBody>
      </p:sp>
      <p:sp>
        <p:nvSpPr>
          <p:cNvPr id="106" name="Shape 104"/>
          <p:cNvSpPr/>
          <p:nvPr/>
        </p:nvSpPr>
        <p:spPr>
          <a:xfrm>
            <a:off x="8275320" y="4315968"/>
            <a:ext cx="3154680" cy="182880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107" name="Text 105"/>
          <p:cNvSpPr/>
          <p:nvPr/>
        </p:nvSpPr>
        <p:spPr>
          <a:xfrm>
            <a:off x="8458200" y="44714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max drawdown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8458200" y="4837176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−7.7%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 −28.4% buy &amp; hold</a:t>
            </a:r>
            <a:endParaRPr lang="en-US" sz="3400" dirty="0"/>
          </a:p>
        </p:txBody>
      </p:sp>
      <p:sp>
        <p:nvSpPr>
          <p:cNvPr id="109" name="Text 107"/>
          <p:cNvSpPr/>
          <p:nvPr/>
        </p:nvSpPr>
        <p:spPr>
          <a:xfrm>
            <a:off x="77724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overlay improves the metric out-of-sample.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— REGIME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model flags every major stress episode</a:t>
            </a:r>
            <a:endParaRPr lang="en-US" sz="3000" dirty="0"/>
          </a:p>
        </p:txBody>
      </p:sp>
      <p:pic>
        <p:nvPicPr>
          <p:cNvPr id="4" name="Image 0" descr="esg_index_reg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8595360" cy="4828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High-ESG index, walk-forward (OOS)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601200" y="2468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5A244"/>
          </a:solidFill>
          <a:ln/>
        </p:spPr>
      </p:sp>
      <p:sp>
        <p:nvSpPr>
          <p:cNvPr id="7" name="Text 4"/>
          <p:cNvSpPr/>
          <p:nvPr/>
        </p:nvSpPr>
        <p:spPr>
          <a:xfrm>
            <a:off x="9930384" y="24140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— low vol, trending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601200" y="29718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9A23B"/>
          </a:solidFill>
          <a:ln/>
        </p:spPr>
      </p:sp>
      <p:sp>
        <p:nvSpPr>
          <p:cNvPr id="9" name="Text 6"/>
          <p:cNvSpPr/>
          <p:nvPr/>
        </p:nvSpPr>
        <p:spPr>
          <a:xfrm>
            <a:off x="9930384" y="29169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Choppy — elevated vol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601200" y="34747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9930384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— high vol / drawdown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0" y="41148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8408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caught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84080" y="4617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2015–16 selloff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784080" y="50383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2018 drawdown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784080" y="54589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COVID crash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784080" y="58795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bear market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&amp; 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Walk-forward: the same story, plus one caveat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371600" cy="512064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965960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48840" y="1965960"/>
            <a:ext cx="1371600" cy="512064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67128" y="1965960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1965960"/>
            <a:ext cx="1371600" cy="512064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1965960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1965960"/>
            <a:ext cx="1463040" cy="512064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96596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2478024"/>
            <a:ext cx="1371600" cy="512064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478024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48840" y="2478024"/>
            <a:ext cx="1371600" cy="512064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2478024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20440" y="2478024"/>
            <a:ext cx="1371600" cy="512064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8728" y="2478024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2478024"/>
            <a:ext cx="1463040" cy="512064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47802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−53.9%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2990088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2990088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48840" y="2990088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67128" y="2990088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20440" y="2990088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2990088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8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2990088"/>
            <a:ext cx="14630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99008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−18.2%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3502152"/>
            <a:ext cx="1371600" cy="512064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3502152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148840" y="3502152"/>
            <a:ext cx="1371600" cy="512064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67128" y="350215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520440" y="3502152"/>
            <a:ext cx="1371600" cy="512064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38728" y="350215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92040" y="3502152"/>
            <a:ext cx="1463040" cy="512064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3502152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−49.9%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401421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" y="4014216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148840" y="401421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67128" y="4014216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520440" y="4014216"/>
            <a:ext cx="1371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38728" y="4014216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892040" y="4014216"/>
            <a:ext cx="14630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401421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−27.9%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77240" y="46177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long ETF histories the walk-forward overlay lifts Sharpe and cuts max drawdown by ~half — it even sidesteps the 2008 crash the train/test split can't see.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629400" y="1965960"/>
            <a:ext cx="4800600" cy="4160520"/>
          </a:xfrm>
          <a:prstGeom prst="roundRect">
            <a:avLst>
              <a:gd name="adj" fmla="val 2198"/>
            </a:avLst>
          </a:prstGeom>
          <a:solidFill>
            <a:srgbClr val="FBF3E2"/>
          </a:solidFill>
          <a:ln w="19050">
            <a:solidFill>
              <a:srgbClr val="E9B4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49440" y="2286000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47" name="Text 45"/>
          <p:cNvSpPr/>
          <p:nvPr/>
        </p:nvSpPr>
        <p:spPr>
          <a:xfrm>
            <a:off x="69494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48" name="Text 46"/>
          <p:cNvSpPr/>
          <p:nvPr/>
        </p:nvSpPr>
        <p:spPr>
          <a:xfrm>
            <a:off x="763524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to read it carefully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49440" y="3063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return-maximizer.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949440" y="33558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strong bull runs the overlay gives up CAGR by sitting out stress days. Its value is proving the labels are tradeable and transfer OOS.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49440" y="40873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walk-forward is conservative.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949440" y="437997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shorter high-ESG basket it over-labels Stress (~35%) when training data is thin; the calibrated train/test split puts it at 11–13%.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49440" y="51114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regimes, not ESG-score regimes.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6949440" y="540410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from ESG-universe price dynamics — not yet from ESG scores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regime signal ready to drive the RL allocator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D453A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368296"/>
            <a:ext cx="475488" cy="47548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368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8" name="Text 6"/>
          <p:cNvSpPr/>
          <p:nvPr/>
        </p:nvSpPr>
        <p:spPr>
          <a:xfrm>
            <a:off x="1691640" y="2267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are real &amp; OOS-valid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26060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Stress-day vol ≈ 2× calm across all three universes, out-of-sample — a clean, tradeable signal.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D453A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3419856"/>
            <a:ext cx="475488" cy="47548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13" name="Text 11"/>
          <p:cNvSpPr/>
          <p:nvPr/>
        </p:nvSpPr>
        <p:spPr>
          <a:xfrm>
            <a:off x="1691640" y="3319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cut roughly in half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91640" y="3657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~halves volatility and max drawdown OOS; on DSI it beats buy &amp; hold (Sharpe 0.92 vs 0.75).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25196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D45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4471416"/>
            <a:ext cx="475488" cy="47548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4471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18" name="Text 16"/>
          <p:cNvSpPr/>
          <p:nvPr/>
        </p:nvSpPr>
        <p:spPr>
          <a:xfrm>
            <a:off x="1691640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into the repo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47091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regime.py matches esg_adaptive_rl conventions; committed on branch esg-regime-hmm.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86600" y="2148840"/>
            <a:ext cx="4343400" cy="3154680"/>
          </a:xfrm>
          <a:prstGeom prst="roundRect">
            <a:avLst>
              <a:gd name="adj" fmla="val 2899"/>
            </a:avLst>
          </a:prstGeom>
          <a:solidFill>
            <a:srgbClr val="10281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2331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360920" y="2834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600"/>
              </a:lnSpc>
              <a:buSzPct val="100000"/>
              <a:buChar char="→"/>
            </a:pPr>
            <a:r>
              <a:rPr lang="en-US" sz="12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ESG-dispersion &amp; ESG-momentum features → regimes reflect ESG-factor stress, not just price stress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60920" y="36118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600"/>
              </a:lnSpc>
              <a:buSzPct val="100000"/>
              <a:buChar char="→"/>
            </a:pPr>
            <a:r>
              <a:rPr lang="en-US" sz="12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regime labels into the RL reward: evolve per-regime E/S/G-vs-return weights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60920" y="43891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600"/>
              </a:lnSpc>
              <a:buSzPct val="100000"/>
              <a:buChar char="→"/>
            </a:pPr>
            <a:r>
              <a:rPr lang="en-US" sz="12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tests on the regime-conditional vol separation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ESG-Adaptive RL · Georgia Tech Finance Research · targeting ACM ICAIF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2026-07-15T22:02:12Z</dcterms:created>
  <dcterms:modified xsi:type="dcterms:W3CDTF">2026-07-15T22:02:12Z</dcterms:modified>
</cp:coreProperties>
</file>