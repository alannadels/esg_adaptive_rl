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Stress ÷ calm vol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0&quot;×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ESGV</c:v>
                  </c:pt>
                  <c:pt idx="1">
                    <c:v>NULV</c:v>
                  </c:pt>
                  <c:pt idx="2">
                    <c:v>ESGU</c:v>
                  </c:pt>
                  <c:pt idx="3">
                    <c:v>SPYX</c:v>
                  </c:pt>
                  <c:pt idx="4">
                    <c:v>SUSA</c:v>
                  </c:pt>
                  <c:pt idx="5">
                    <c:v>CRBN</c:v>
                  </c:pt>
                  <c:pt idx="6">
                    <c:v>DSI</c:v>
                  </c:pt>
                  <c:pt idx="7">
                    <c:v>ERTH</c:v>
                  </c:pt>
                  <c:pt idx="8">
                    <c:v>ESGD</c:v>
                  </c:pt>
                  <c:pt idx="9">
                    <c:v>esg_index</c:v>
                  </c:pt>
                  <c:pt idx="10">
                    <c:v>SUSL</c:v>
                  </c:pt>
                  <c:pt idx="11">
                    <c:v>ICLN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2.92</c:v>
                </c:pt>
                <c:pt idx="1">
                  <c:v>2.91</c:v>
                </c:pt>
                <c:pt idx="2">
                  <c:v>2.82</c:v>
                </c:pt>
                <c:pt idx="3">
                  <c:v>2.71</c:v>
                </c:pt>
                <c:pt idx="4">
                  <c:v>2.7</c:v>
                </c:pt>
                <c:pt idx="5">
                  <c:v>2.31</c:v>
                </c:pt>
                <c:pt idx="6">
                  <c:v>2.31</c:v>
                </c:pt>
                <c:pt idx="7">
                  <c:v>2.16</c:v>
                </c:pt>
                <c:pt idx="8">
                  <c:v>2.12</c:v>
                </c:pt>
                <c:pt idx="9">
                  <c:v>2</c:v>
                </c:pt>
                <c:pt idx="10">
                  <c:v>1.85</c:v>
                </c:pt>
                <c:pt idx="11">
                  <c:v>1.68</c:v>
                </c:pt>
              </c:numCache>
            </c:numRef>
          </c:val>
        </c:ser>
        <c:dLbls>
          <c:numFmt formatCode="0.00&quot;×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1F2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4"/>
          <c:min val="0"/>
        </c:scaling>
        <c:delete val="0"/>
        <c:axPos val="l"/>
        <c:majorGridlines>
          <c:spPr>
            <a:ln w="12700" cap="flat">
              <a:solidFill>
                <a:srgbClr val="EAF0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Buy &amp; Hold</c:v>
                </c:pt>
              </c:strCache>
            </c:strRef>
          </c:tx>
          <c:spPr>
            <a:solidFill>
              <a:srgbClr val="6B7A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SUSA</c:v>
                  </c:pt>
                  <c:pt idx="1">
                    <c:v>DSI</c:v>
                  </c:pt>
                  <c:pt idx="2">
                    <c:v>ICLN</c:v>
                  </c:pt>
                  <c:pt idx="3">
                    <c:v>ERTH</c:v>
                  </c:pt>
                  <c:pt idx="4">
                    <c:v>NULV</c:v>
                  </c:pt>
                  <c:pt idx="5">
                    <c:v>ESGU</c:v>
                  </c:pt>
                  <c:pt idx="6">
                    <c:v>ESGV</c:v>
                  </c:pt>
                  <c:pt idx="7">
                    <c:v>SPYX</c:v>
                  </c:pt>
                  <c:pt idx="8">
                    <c:v>CRBN</c:v>
                  </c:pt>
                  <c:pt idx="9">
                    <c:v>ESGD</c:v>
                  </c:pt>
                  <c:pt idx="10">
                    <c:v>SUSL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53.9</c:v>
                </c:pt>
                <c:pt idx="1">
                  <c:v>49.9</c:v>
                </c:pt>
                <c:pt idx="2">
                  <c:v>72.5</c:v>
                </c:pt>
                <c:pt idx="3">
                  <c:v>64.2</c:v>
                </c:pt>
                <c:pt idx="4">
                  <c:v>37</c:v>
                </c:pt>
                <c:pt idx="5">
                  <c:v>33.9</c:v>
                </c:pt>
                <c:pt idx="6">
                  <c:v>33.7</c:v>
                </c:pt>
                <c:pt idx="7">
                  <c:v>32.8</c:v>
                </c:pt>
                <c:pt idx="8">
                  <c:v>33.1</c:v>
                </c:pt>
                <c:pt idx="9">
                  <c:v>33.7</c:v>
                </c:pt>
                <c:pt idx="10">
                  <c:v>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Regime Overlay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SUSA</c:v>
                  </c:pt>
                  <c:pt idx="1">
                    <c:v>DSI</c:v>
                  </c:pt>
                  <c:pt idx="2">
                    <c:v>ICLN</c:v>
                  </c:pt>
                  <c:pt idx="3">
                    <c:v>ERTH</c:v>
                  </c:pt>
                  <c:pt idx="4">
                    <c:v>NULV</c:v>
                  </c:pt>
                  <c:pt idx="5">
                    <c:v>ESGU</c:v>
                  </c:pt>
                  <c:pt idx="6">
                    <c:v>ESGV</c:v>
                  </c:pt>
                  <c:pt idx="7">
                    <c:v>SPYX</c:v>
                  </c:pt>
                  <c:pt idx="8">
                    <c:v>CRBN</c:v>
                  </c:pt>
                  <c:pt idx="9">
                    <c:v>ESGD</c:v>
                  </c:pt>
                  <c:pt idx="10">
                    <c:v>SUSL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18.2</c:v>
                </c:pt>
                <c:pt idx="1">
                  <c:v>27.8</c:v>
                </c:pt>
                <c:pt idx="2">
                  <c:v>33.5</c:v>
                </c:pt>
                <c:pt idx="3">
                  <c:v>42.8</c:v>
                </c:pt>
                <c:pt idx="4">
                  <c:v>9.3</c:v>
                </c:pt>
                <c:pt idx="5">
                  <c:v>14.3</c:v>
                </c:pt>
                <c:pt idx="6">
                  <c:v>13.6</c:v>
                </c:pt>
                <c:pt idx="7">
                  <c:v>18.3</c:v>
                </c:pt>
                <c:pt idx="8">
                  <c:v>14.7</c:v>
                </c:pt>
                <c:pt idx="9">
                  <c:v>23.1</c:v>
                </c:pt>
                <c:pt idx="10">
                  <c:v>8.3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1" i="0" u="none" strike="noStrike">
                <a:solidFill>
                  <a:srgbClr val="1F2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AF0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A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7A72"/>
                    </a:solidFill>
                    <a:latin typeface="Arial"/>
                  </a:rPr>
                  <a:t>Max drawdown (%)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 label match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CRBN</c:v>
                  </c:pt>
                  <c:pt idx="1">
                    <c:v>SPYX</c:v>
                  </c:pt>
                  <c:pt idx="2">
                    <c:v>ESGV</c:v>
                  </c:pt>
                  <c:pt idx="3">
                    <c:v>ESGU</c:v>
                  </c:pt>
                  <c:pt idx="4">
                    <c:v>NULV</c:v>
                  </c:pt>
                  <c:pt idx="5">
                    <c:v>ESGD</c:v>
                  </c:pt>
                  <c:pt idx="6">
                    <c:v>SUSA</c:v>
                  </c:pt>
                  <c:pt idx="7">
                    <c:v>DSI</c:v>
                  </c:pt>
                  <c:pt idx="8">
                    <c:v>SUSL</c:v>
                  </c:pt>
                  <c:pt idx="9">
                    <c:v>ERTH</c:v>
                  </c:pt>
                  <c:pt idx="10">
                    <c:v>ICLN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67</c:v>
                </c:pt>
                <c:pt idx="1">
                  <c:v>63</c:v>
                </c:pt>
                <c:pt idx="2">
                  <c:v>60</c:v>
                </c:pt>
                <c:pt idx="3">
                  <c:v>57</c:v>
                </c:pt>
                <c:pt idx="4">
                  <c:v>55</c:v>
                </c:pt>
                <c:pt idx="5">
                  <c:v>54</c:v>
                </c:pt>
                <c:pt idx="6">
                  <c:v>53</c:v>
                </c:pt>
                <c:pt idx="7">
                  <c:v>51</c:v>
                </c:pt>
                <c:pt idx="8">
                  <c:v>50</c:v>
                </c:pt>
                <c:pt idx="9">
                  <c:v>49</c:v>
                </c:pt>
                <c:pt idx="10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F2A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F2A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12700" cap="flat">
              <a:solidFill>
                <a:srgbClr val="EAF0E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ESG market regimes are real and universal across ESG index styles.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test axes: regime quality, economic value, universality.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panel deliberately spans ESG styles so a shared result cannot be an artifact of one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Identical treatment is what makes the cross-index comparison valid.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scientific result: regime structure is universal across ESG styles.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negative result about our own design choice — the bespoke basket was unnecessary.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reduction is the universal, reliable benefit — more so than return enhancement.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diagnosed the failure rather than reporting it as noise — the defect is in the index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Regimes are universe-specific — an important design constraint for the RL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next actions and how the regime layer plugs into the RL environment and reward.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0"/>
            <a:ext cx="2499055" cy="6858000"/>
          </a:xfrm>
          <a:prstGeom prst="rect">
            <a:avLst/>
          </a:prstGeom>
          <a:solidFill>
            <a:srgbClr val="10281F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4379610"/>
            <a:ext cx="292608" cy="1655430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0433304" y="4725436"/>
            <a:ext cx="292608" cy="1309604"/>
          </a:xfrm>
          <a:prstGeom prst="roundRect">
            <a:avLst>
              <a:gd name="adj" fmla="val 18750"/>
            </a:avLst>
          </a:prstGeom>
          <a:solidFill>
            <a:srgbClr val="2C5F2D"/>
          </a:solidFill>
          <a:ln/>
        </p:spPr>
      </p:sp>
      <p:sp>
        <p:nvSpPr>
          <p:cNvPr id="5" name="Shape 3"/>
          <p:cNvSpPr/>
          <p:nvPr/>
        </p:nvSpPr>
        <p:spPr>
          <a:xfrm>
            <a:off x="10853928" y="4901184"/>
            <a:ext cx="292608" cy="1133856"/>
          </a:xfrm>
          <a:prstGeom prst="roundRect">
            <a:avLst>
              <a:gd name="adj" fmla="val 18750"/>
            </a:avLst>
          </a:prstGeom>
          <a:solidFill>
            <a:srgbClr val="E9B44C"/>
          </a:solidFill>
          <a:ln/>
        </p:spPr>
      </p:sp>
      <p:sp>
        <p:nvSpPr>
          <p:cNvPr id="6" name="Shape 4"/>
          <p:cNvSpPr/>
          <p:nvPr/>
        </p:nvSpPr>
        <p:spPr>
          <a:xfrm>
            <a:off x="11274552" y="5082601"/>
            <a:ext cx="292608" cy="952439"/>
          </a:xfrm>
          <a:prstGeom prst="roundRect">
            <a:avLst>
              <a:gd name="adj" fmla="val 18750"/>
            </a:avLst>
          </a:prstGeom>
          <a:solidFill>
            <a:srgbClr val="3E7B4F"/>
          </a:solidFill>
          <a:ln/>
        </p:spPr>
      </p:sp>
      <p:sp>
        <p:nvSpPr>
          <p:cNvPr id="7" name="Shape 5"/>
          <p:cNvSpPr/>
          <p:nvPr/>
        </p:nvSpPr>
        <p:spPr>
          <a:xfrm>
            <a:off x="11695176" y="4498665"/>
            <a:ext cx="292608" cy="1536375"/>
          </a:xfrm>
          <a:prstGeom prst="roundRect">
            <a:avLst>
              <a:gd name="adj" fmla="val 18750"/>
            </a:avLst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 · FINANCE RESEARCH · ESG-ADAPTIVE 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8503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ESG Markets Have Regimes?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a 12-index hidden-Markov study of the ESG universe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and the effect is universal. </a:t>
            </a:r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ESG universes tested separate volatility states out-of-sample, and a regime overlay cut drawdowns on 11 of 11 published indices.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3-state Gaussian HMM · walk-forward validated · 2005–2026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the regime model need a bespoke ESG universe?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first built a universe from real ESG scores — the top-40 US large-caps by Refinitiv ESG rating. Then we asked whether that bespoke construction was actually necessary, by running the identical model on 11 published ESG indices.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3017520"/>
            <a:ext cx="548640" cy="54864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Regime quality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HMM separate volatility states?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51560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5230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÷ calm volatility ratio, out-of-sample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2743200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26654F"/>
          </a:solidFill>
          <a:ln/>
        </p:spPr>
      </p:sp>
      <p:sp>
        <p:nvSpPr>
          <p:cNvPr id="13" name="Shape 11"/>
          <p:cNvSpPr/>
          <p:nvPr/>
        </p:nvSpPr>
        <p:spPr>
          <a:xfrm>
            <a:off x="4645152" y="3017520"/>
            <a:ext cx="548640" cy="54864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4" name="Text 12"/>
          <p:cNvSpPr/>
          <p:nvPr/>
        </p:nvSpPr>
        <p:spPr>
          <a:xfrm>
            <a:off x="4645152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645152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Economic value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45152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regime labels tradeable?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45152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45152" y="5230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vs buy &amp; hold: ΔSharpe, drawdown cut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64424" y="2743200"/>
            <a:ext cx="3319272" cy="3200400"/>
          </a:xfrm>
          <a:prstGeom prst="roundRect">
            <a:avLst>
              <a:gd name="adj" fmla="val 2857"/>
            </a:avLst>
          </a:prstGeom>
          <a:solidFill>
            <a:srgbClr val="3E7B4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38744" y="3017520"/>
            <a:ext cx="548640" cy="54864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1" name="Text 19"/>
          <p:cNvSpPr/>
          <p:nvPr/>
        </p:nvSpPr>
        <p:spPr>
          <a:xfrm>
            <a:off x="8238744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238744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Universality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38744" y="41605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ESG regime, or many?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38744" y="4983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38744" y="523036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Cross-index label agreement on shared dates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ESG universes spanning every major ESG style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pipeline on all 12 — same features, same HMM, same walk-forward protocol, same costs. 1,498–5,085 trading days each, 2005–2026.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286000" cy="356616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194560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2194560"/>
            <a:ext cx="4846320" cy="356616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1528" y="2194560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09560" y="2194560"/>
            <a:ext cx="1828800" cy="356616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2194560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738360" y="2194560"/>
            <a:ext cx="1280160" cy="356616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56648" y="2194560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2551176"/>
            <a:ext cx="22860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551176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8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esg_index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63240" y="2551176"/>
            <a:ext cx="484632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2551176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Score-constructed top-40 ESG basket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09560" y="2551176"/>
            <a:ext cx="18288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2551176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2011–2026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2551176"/>
            <a:ext cx="128016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56648" y="2551176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3,694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07792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907792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63240" y="2907792"/>
            <a:ext cx="48463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907792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ESG (MSCI USA ESG Select)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9560" y="2907792"/>
            <a:ext cx="18288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27848" y="2907792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2006–2026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38360" y="2907792"/>
            <a:ext cx="128016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2907792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5,085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3264408"/>
            <a:ext cx="22860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264408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63240" y="3264408"/>
            <a:ext cx="484632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3264408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Values-screened (KLD 400 Social)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909560" y="3264408"/>
            <a:ext cx="18288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7848" y="3264408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2008–2026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738360" y="3264408"/>
            <a:ext cx="128016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56648" y="3264408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4,630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7240" y="3621024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3621024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063240" y="3621024"/>
            <a:ext cx="48463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81528" y="3621024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/ sustainable future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909560" y="3621024"/>
            <a:ext cx="18288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27848" y="3621024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2008–2026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738360" y="3621024"/>
            <a:ext cx="128016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56648" y="3621024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4,654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7240" y="3977640"/>
            <a:ext cx="22860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7824" y="3977640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063240" y="3977640"/>
            <a:ext cx="484632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3977640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Clean-energy thematic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3977640"/>
            <a:ext cx="18288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27848" y="3977640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2009–2026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738360" y="3977640"/>
            <a:ext cx="128016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756648" y="3977640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4,235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77240" y="4334256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7824" y="4334256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CRBN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063240" y="4334256"/>
            <a:ext cx="48463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81528" y="4334256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carbon (global ACWI)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7909560" y="4334256"/>
            <a:ext cx="18288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27848" y="4334256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2016–2026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9738360" y="4334256"/>
            <a:ext cx="128016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56648" y="4334256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2,607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77240" y="4690872"/>
            <a:ext cx="22860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7824" y="4690872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SPYX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063240" y="4690872"/>
            <a:ext cx="484632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81528" y="4690872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Fossil-fuel free (S&amp;P 500)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909560" y="4690872"/>
            <a:ext cx="18288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27848" y="4690872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2017–2026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738360" y="4690872"/>
            <a:ext cx="128016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56648" y="4690872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2,363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77240" y="5047488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7824" y="5047488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ESGU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063240" y="5047488"/>
            <a:ext cx="48463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81528" y="5047488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ESG (ESG Aware MSCI USA)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909560" y="5047488"/>
            <a:ext cx="18288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27848" y="5047488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2018–2026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9738360" y="5047488"/>
            <a:ext cx="128016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756648" y="5047488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2,107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77240" y="5404104"/>
            <a:ext cx="22860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77824" y="5404104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ESGD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063240" y="5404104"/>
            <a:ext cx="484632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81528" y="5404104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ESG (EAFE)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7909560" y="5404104"/>
            <a:ext cx="182880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27848" y="5404104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2017–2026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9738360" y="5404104"/>
            <a:ext cx="1280160" cy="356616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756648" y="5404104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2,178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777240" y="5760720"/>
            <a:ext cx="22860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7824" y="5760720"/>
            <a:ext cx="21671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NULV / ESGV / SUSL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3063240" y="5760720"/>
            <a:ext cx="484632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081528" y="5760720"/>
            <a:ext cx="4809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value · broad ESG · ESG leaders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909560" y="5760720"/>
            <a:ext cx="182880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27848" y="5760720"/>
            <a:ext cx="1792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2018–2026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9738360" y="5760720"/>
            <a:ext cx="1280160" cy="356616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756648" y="5760720"/>
            <a:ext cx="12435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1,498–2,084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10972800" y="2194560"/>
            <a:ext cx="0" cy="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777240" y="6172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scores: Dataset/ESG_2000-2026.csv — 3,551 US companies, Refinitiv-style 0–100 ESG score (mean 40.3), E/S/G pillars, ~$83T market cap. Used to build the constructed basket.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pipeline, applied identically to all 12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5" name="Text 3"/>
          <p:cNvSpPr/>
          <p:nvPr/>
        </p:nvSpPr>
        <p:spPr>
          <a:xfrm>
            <a:off x="94183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44168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Features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45059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price-based, lagged z-scored: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 term structure, trend, realized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vol, drawdown, momentum,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Parkinson range vol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300984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6654F"/>
          </a:solidFill>
          <a:ln/>
        </p:spPr>
      </p:sp>
      <p:sp>
        <p:nvSpPr>
          <p:cNvPr id="10" name="Text 8"/>
          <p:cNvSpPr/>
          <p:nvPr/>
        </p:nvSpPr>
        <p:spPr>
          <a:xfrm>
            <a:off x="368503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87368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HMM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03320" y="245059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Gaussian, diagonal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covariance, Baum-Welch EM,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restarts → best log-likelihood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44184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42823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30568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Labeling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245059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ranked by mean realized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→ Calm / Choppy / Stress.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Forward-algorithm filtered decode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87384" y="274320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06840" y="182880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6654F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73768" y="19568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Validation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9720" y="2450592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monthly retrain on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window. Every bar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only from its own past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4434840"/>
            <a:ext cx="10652760" cy="1600200"/>
          </a:xfrm>
          <a:prstGeom prst="roundRect">
            <a:avLst>
              <a:gd name="adj" fmla="val 5714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look-ahead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standardization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52728" y="52486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use mean/std through t−1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2628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posteriors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27448" y="52486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algorithm — never Viterbi over the full path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01000" y="4956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✓"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refits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02168" y="52486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1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bar is decoded by a model trained on 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ESG universe separates volatility states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stress ÷ calm volatility ratio. All 12 exceed 1.6× — the regime signal is a property of ESG equity markets, not of any one index construction.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468880"/>
          <a:ext cx="74980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2468880"/>
            <a:ext cx="2971800" cy="1783080"/>
          </a:xfrm>
          <a:prstGeom prst="roundRect">
            <a:avLst>
              <a:gd name="adj" fmla="val 5128"/>
            </a:avLst>
          </a:prstGeom>
          <a:solidFill>
            <a:srgbClr val="14342B"/>
          </a:solidFill>
          <a:ln/>
        </p:spPr>
      </p:sp>
      <p:sp>
        <p:nvSpPr>
          <p:cNvPr id="7" name="Text 4"/>
          <p:cNvSpPr/>
          <p:nvPr/>
        </p:nvSpPr>
        <p:spPr>
          <a:xfrm>
            <a:off x="8458200" y="2606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 / 12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41080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universes show clear volatility-regime separation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8200" y="4434840"/>
            <a:ext cx="2971800" cy="1828800"/>
          </a:xfrm>
          <a:prstGeom prst="roundRect">
            <a:avLst>
              <a:gd name="adj" fmla="val 5000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4553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across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41080" y="48646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buSzPct val="100000"/>
              <a:buChar char="✓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values-screened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641080" y="51389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buSzPct val="100000"/>
              <a:buChar char="✓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41080" y="5413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buSzPct val="100000"/>
              <a:buChar char="✓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fossil-fuel free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41080" y="5687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buSzPct val="100000"/>
              <a:buChar char="✓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41080" y="5961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39700" indent="-139700">
              <a:buSzPct val="100000"/>
              <a:buChar char="✓"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A RESULT THAT REVERSED OUR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Published indices beat the bespoke ESG-score basket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universe from real ESG scores expecting it to be the best regime substrate. It was the panel's worst performer on risk-adjusted improvement.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356616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286000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246888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61688" y="2286000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ratio (stress/calm)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2286000"/>
            <a:ext cx="265176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228600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ΔSharpe (overlay − B&amp;H)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464040" y="2286000"/>
            <a:ext cx="196596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82328" y="2286000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2852928"/>
            <a:ext cx="356616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852928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Score-constructed basket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43400" y="2852928"/>
            <a:ext cx="246888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2852928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12280" y="2852928"/>
            <a:ext cx="265176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0568" y="2852928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−0.51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464040" y="2852928"/>
            <a:ext cx="196596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82328" y="2852928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341985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419856"/>
            <a:ext cx="3447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ESG indices (11)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43400" y="3419856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61688" y="3419856"/>
            <a:ext cx="24323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812280" y="3419856"/>
            <a:ext cx="2651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3419856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464040" y="3419856"/>
            <a:ext cx="1965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82328" y="3419856"/>
            <a:ext cx="1929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772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individual substrates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617720"/>
            <a:ext cx="1463040" cy="38404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4617720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40280" y="4617720"/>
            <a:ext cx="1554480" cy="38404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4617720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Sharpe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94760" y="4617720"/>
            <a:ext cx="1280160" cy="38404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13048" y="46177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74920" y="4617720"/>
            <a:ext cx="1371600" cy="38404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461772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ΔSharpe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77240" y="5001768"/>
            <a:ext cx="146304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500176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ESGU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40280" y="5001768"/>
            <a:ext cx="155448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58568" y="50017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94760" y="5001768"/>
            <a:ext cx="128016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13048" y="5001768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74920" y="5001768"/>
            <a:ext cx="137160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93208" y="500176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+0.23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7240" y="5385816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385816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ESGV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240280" y="5385816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58568" y="5385816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794760" y="5385816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13048" y="5385816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74920" y="5385816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93208" y="53858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+0.17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77240" y="5769864"/>
            <a:ext cx="146304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7824" y="5769864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SPYX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240280" y="5769864"/>
            <a:ext cx="155448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58568" y="576986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794760" y="5769864"/>
            <a:ext cx="128016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13048" y="576986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74920" y="5769864"/>
            <a:ext cx="1371600" cy="38404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93208" y="576986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+0.14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77240" y="6153912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7824" y="6153912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240280" y="6153912"/>
            <a:ext cx="15544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58568" y="6153912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794760" y="6153912"/>
            <a:ext cx="12801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13048" y="6153912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074920" y="6153912"/>
            <a:ext cx="13716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93208" y="6153912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+0.13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720840" y="4206240"/>
            <a:ext cx="4709160" cy="2103120"/>
          </a:xfrm>
          <a:prstGeom prst="roundRect">
            <a:avLst>
              <a:gd name="adj" fmla="val 4348"/>
            </a:avLst>
          </a:prstGeom>
          <a:solidFill>
            <a:srgbClr val="FBF3E2"/>
          </a:solidFill>
          <a:ln w="19050">
            <a:solidFill>
              <a:srgbClr val="E9B44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95160" y="4434840"/>
            <a:ext cx="457200" cy="45720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2" name="Text 70"/>
          <p:cNvSpPr/>
          <p:nvPr/>
        </p:nvSpPr>
        <p:spPr>
          <a:xfrm>
            <a:off x="69951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607808" y="446227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5A1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6995160" y="50292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bespoke ESG-score construction added complexity and cost accuracy. An off-the-shelf broad ESG index is the better regime substrate — simpler, longer history, no construction artifacts.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THE MOST ROBUST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Drawdown protection on 11 of 11 published indices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drawdown, buy &amp; hold vs regime overlay (walk-forward, net of costs). Average reduction 54%.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148840"/>
          <a:ext cx="7772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228600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14342B"/>
          </a:solidFill>
          <a:ln/>
        </p:spPr>
      </p:sp>
      <p:sp>
        <p:nvSpPr>
          <p:cNvPr id="7" name="Text 4"/>
          <p:cNvSpPr/>
          <p:nvPr/>
        </p:nvSpPr>
        <p:spPr>
          <a:xfrm>
            <a:off x="8732520" y="23957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11/11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915400" y="318211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had drawdown reduced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732520" y="4206240"/>
            <a:ext cx="269748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8732520" y="431596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54%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915400" y="51023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drawdown cut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08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ROOT-CAUSED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Over-labeling Stress is what breaks the overlay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monotone relationship: the more days a series is labeled Stress, the worse the overlay performs — it sits out too much of the bull market and dilutes the stress bucket.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301752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331720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frequency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2331720"/>
            <a:ext cx="548640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13048" y="2331720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281160" y="2331720"/>
            <a:ext cx="2148840" cy="566928"/>
          </a:xfrm>
          <a:prstGeom prst="rect">
            <a:avLst/>
          </a:prstGeom>
          <a:solidFill>
            <a:srgbClr val="14342B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99448" y="2331720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ΔSharpe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898648"/>
            <a:ext cx="301752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898648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15–24%  (well calibrated)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94760" y="2898648"/>
            <a:ext cx="548640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2898648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ESGV, NULV, ESGU, SPYX, SUSA, CRBN, DSI, ERTH, ESGD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81160" y="2898648"/>
            <a:ext cx="2148840" cy="566928"/>
          </a:xfrm>
          <a:prstGeom prst="rect">
            <a:avLst/>
          </a:prstGeom>
          <a:solidFill>
            <a:srgbClr val="F6FAF7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2898648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465576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465576"/>
            <a:ext cx="2898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35–46%  (over-labeling)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94760" y="3465576"/>
            <a:ext cx="54864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13048" y="3465576"/>
            <a:ext cx="54498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esg_index (35%), SUSL (36%), ICLN (46%)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281160" y="3465576"/>
            <a:ext cx="2148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1E9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99448" y="3465576"/>
            <a:ext cx="2112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416052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1434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29768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a construction flaw, not a model flaw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84632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constructed basket has no true intraday high/low, so the builder synthesizes an OHLC bar from the cross-sectional max/min return across its 34 constituents. That is a dispersion measure, not an intraday range — it inflates the Parkinson range-vol feature and biases the model toward Stress.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4160520"/>
            <a:ext cx="5166360" cy="2194560"/>
          </a:xfrm>
          <a:prstGeom prst="roundRect">
            <a:avLst>
              <a:gd name="adj" fmla="val 4167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42976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Corroborating evidence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681728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basket labeled only 11–13% Stress under the chronological train/test protocol — consistent with a feature-scaling artifact that the expanding walk-forward window amplifies, rather than a defect in the regime concept itself.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58978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true constituent OHLC, or drop Parkinson vol for constructed baskets.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There is no single, universal “ESG regime”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each index's regime path and the constructed basket's, on shared dates. Only 43–67% exact match — the market state is meaningfully universe-specific.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42316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242316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14342B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560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43–67%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138160" y="33832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agreement across ESG universes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09560" y="443484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1F5F2"/>
          </a:solidFill>
          <a:ln w="12700">
            <a:solidFill>
              <a:srgbClr val="E1E9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4572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3816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55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regimes on the same universe the allocator actually trades. A regime path borrowed from another ESG index will disagree roughly half the time.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Wiring the regime signal into ESG-Adaptive RL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" y="223113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31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8" name="Text 6"/>
          <p:cNvSpPr/>
          <p:nvPr/>
        </p:nvSpPr>
        <p:spPr>
          <a:xfrm>
            <a:off x="1691640" y="21122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regime substrate to a broad ESG index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91640" y="245059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ESGU / ESGV / SUSA — best separation (2.7–2.9×) and best ΔSharpe. SUSA adds 20 years of history.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" y="328269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1691640" y="316382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retire the synthetic-OHLC basket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91640" y="350215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true constituent OHLC, or drop Parkinson vol for constructed universes.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D453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" y="4334256"/>
            <a:ext cx="475488" cy="47548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3342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43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8" name="Text 16"/>
          <p:cNvSpPr/>
          <p:nvPr/>
        </p:nvSpPr>
        <p:spPr>
          <a:xfrm>
            <a:off x="1691640" y="421538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regime universe with the trading universe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91640" y="455371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ECB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agreement is only 43–67% across indices — don't borrow a regime path.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2011680"/>
            <a:ext cx="3749040" cy="3154680"/>
          </a:xfrm>
          <a:prstGeom prst="roundRect">
            <a:avLst>
              <a:gd name="adj" fmla="val 2899"/>
            </a:avLst>
          </a:prstGeom>
          <a:solidFill>
            <a:srgbClr val="10281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B44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Integration path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955280" y="26700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500"/>
              </a:lnSpc>
              <a:buSzPct val="100000"/>
              <a:buChar char="→"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esg_regime.label_regimes() emits a daily Calm/Choppy/Stress label per bar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329184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500"/>
              </a:lnSpc>
              <a:buSzPct val="100000"/>
              <a:buChar char="→"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PortfolioEnv exposes the label as an observation feature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0" y="391363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500"/>
              </a:lnSpc>
              <a:buSzPct val="100000"/>
              <a:buChar char="→"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RewardWeights become per-regime: the evolutionary layer searches one weight vector per state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955280" y="453542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500"/>
              </a:lnSpc>
              <a:buSzPct val="100000"/>
              <a:buChar char="→"/>
            </a:pPr>
            <a:r>
              <a:rPr lang="en-US" sz="1150" dirty="0">
                <a:solidFill>
                  <a:srgbClr val="DC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price of virtue conditional on regime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code, data, results and this deck committed on branch esg-regime-hmm · ESG-Adaptive RL · targeting ACM ICAIF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2026-07-22T21:48:16Z</dcterms:created>
  <dcterms:modified xsi:type="dcterms:W3CDTF">2026-07-22T21:48:16Z</dcterms:modified>
</cp:coreProperties>
</file>